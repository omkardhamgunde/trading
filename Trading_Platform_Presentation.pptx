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8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Trading &amp;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D4AA"/>
                </a:solidFill>
              </a:defRPr>
            </a:pPr>
            <a:r>
              <a:t>Analysis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C"/>
                </a:solidFill>
              </a:defRPr>
            </a:pPr>
            <a:r>
              <a:t>Real-Time Market Data Streaming · Simulated Trading Engine · Live Portfolio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Omkar Dhamgunde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839E"/>
                </a:solidFill>
              </a:defRPr>
            </a:pPr>
            <a:r>
              <a:t>B.Tech Computer Science  ·  Vishwakarma Institute of Technology, Pune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206240"/>
            <a:ext cx="1097280" cy="3200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</a:defRPr>
            </a:pPr>
            <a:r>
              <a:t>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4206240"/>
            <a:ext cx="1097280" cy="3200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</a:defRPr>
            </a:pPr>
            <a:r>
              <a:t>Flask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0" y="4206240"/>
            <a:ext cx="1097280" cy="3200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</a:defRPr>
            </a:pPr>
            <a:r>
              <a:t>MySQL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663440"/>
            <a:ext cx="1097280" cy="3200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663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</a:defRPr>
            </a:pPr>
            <a:r>
              <a:t>SocketIO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4663440"/>
            <a:ext cx="1097280" cy="3200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4663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</a:defRPr>
            </a:pPr>
            <a:r>
              <a:t>yfinance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789920" y="4663440"/>
            <a:ext cx="1097280" cy="3200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0" y="4663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4AA"/>
                </a:solidFill>
              </a:defRPr>
            </a:pPr>
            <a:r>
              <a:t>gevent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</a:defRPr>
            </a:pPr>
            <a:r>
              <a:t>01  ·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4389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</a:defRPr>
            </a:pPr>
            <a:r>
              <a:t>What is this platform?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A full-stack web application for simulated stock trading</a:t>
            </a:r>
          </a:p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Covers both NSE (Indian) and US equity markets</a:t>
            </a:r>
          </a:p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Real-time price streaming via WebSocket connections</a:t>
            </a:r>
          </a:p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Virtual wallet system for risk-free trading simulation</a:t>
            </a:r>
          </a:p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Live portfolio tracking with P&amp;L calculations</a:t>
            </a:r>
          </a:p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Designed for learning stock markets without financial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29200" cy="4389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42"/>
                </a:solidFill>
              </a:defRPr>
            </a:pPr>
            <a:r>
              <a:t>Why does it matter?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Stock market education lacks hands-on tools</a:t>
            </a:r>
          </a:p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Real trading involves financial risk for beginners</a:t>
            </a:r>
          </a:p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Existing simulators lack real-time data integration</a:t>
            </a:r>
          </a:p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Students need practical exposure to market dynamics</a:t>
            </a:r>
          </a:p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Bridges the gap between theory and real-world trading</a:t>
            </a:r>
          </a:p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Demonstrates full-stack engineering with financial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</a:defRPr>
            </a:pPr>
            <a:r>
              <a:t>02  ·  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Literature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2103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659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Real-Time Stock Market Simulation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Studies on virtual trading platforms show that simulated environments improve financial literacy by 40–60% among university students. Key challenge: achieving sub-second data latency.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Chen et al., 2023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029200" cy="2103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9659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WebSocket-Based Financial Data Streaming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Research highlights WebSocket protocol's superiority over HTTP polling for financial data — reducing bandwidth by 50% and achieving 10x lower latency for real-time price feeds.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747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Kumar &amp; Singh, 2022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5029200" cy="2103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43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434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Caching Strategies for High-Frequency API Calls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TTL-based caching with LRU eviction significantly reduces API load. Studies show 40–70% reduction in external calls while maintaining data freshness within acceptable bounds.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Zhang et al., 2023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06240"/>
            <a:ext cx="5029200" cy="2103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343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3434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Portfolio Analytics &amp; Risk Computation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Dynamic P&amp;L calculation from trade history (vs. snapshot storage) ensures data consistency. Event-sourced architectures eliminate synchronization issues in multi-user platforms.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8521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Patel &amp; Nguyen, 2022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</a:defRPr>
            </a:pPr>
            <a:r>
              <a:t>03  ·  RESEARCH GAP IDENTIFIED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Research Gap Identified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2103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No Real-Time Data in Simulators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Most educational trading platforms use delayed or static data. Students don't experience the urgency and volatility of live markets.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2103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Lack of Multi-Market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560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Existing tools focus on single markets (usually US). Indian market students lack NSE-specific simulators with real-time pricing.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291840" cy="2103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Poor Performance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560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Many platforms struggle with concurrent users due to naive API calling patterns — no caching, no connection pooling, no async processing.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3291840" cy="2103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No Integrated Portfolio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Trade execution and P&amp;L are often separate systems. Few platforms offer real-time portfolio valuation alongside trade execution.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206240"/>
            <a:ext cx="3291840" cy="2103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Missing WebSocket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9377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HTTP polling wastes bandwidth and introduces latency. WebSocket push-based architectures are underutilized in educational trading tools.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206240"/>
            <a:ext cx="3291840" cy="2103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No Performance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9377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Existing platforms lack built-in metrics, health checks, and performance baselines — making debugging and optimization difficult.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</a:defRPr>
            </a:pPr>
            <a:r>
              <a:t>04  ·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18288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00D4AA"/>
                </a:solidFill>
              </a:defRPr>
            </a:pPr>
            <a: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9326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To design and develop a real-time, full-stack stock trading simulation platform that enables users to practice trading across NSE and US equity markets with live price data, virtual wallets, and instant portfolio analytics — addressing the lack of accessible, performant, multi-market educational trading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24688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Real-Time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How to push live prices to multiple</a:t>
            </a:r>
            <a:br/>
            <a:r>
              <a:t>clients with &lt;10s latency?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4114800"/>
            <a:ext cx="24688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API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1206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How to handle thousands of stock</a:t>
            </a:r>
            <a:br/>
            <a:r>
              <a:t>prices without hitting API rate limits?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114800"/>
            <a:ext cx="24688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Data Consistency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1206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How to ensure trade execution</a:t>
            </a:r>
            <a:br/>
            <a:r>
              <a:t>and P&amp;L stay in sync?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4114800"/>
            <a:ext cx="2468880" cy="2286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42062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6634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Concurrent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51206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How to support 50+ users</a:t>
            </a:r>
            <a:br/>
            <a:r>
              <a:t>without performance degradation?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</a:defRPr>
            </a:pPr>
            <a:r>
              <a:t>05  · 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9659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Real-Time Streaming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31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Implement WebSocket-based price streaming with gevent greenlets for any stock ticker with 10-second update intervals.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0292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47D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9659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Simulated Trading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331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Build a buy/sell engine with atomic MySQL transactions, virtual wallet, and dynamic P&amp;L computation from trade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50292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520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Performance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862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Design a thread-safe LRU cache with TTL to reduce Yahoo Finance API calls by 60% while maintaining data freshness.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383280"/>
            <a:ext cx="50292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47DFF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520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Multi-Market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8862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Support both NSE (Indian) and US equity markets with unified search, watchlist, and trading interfaces.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37760"/>
            <a:ext cx="50292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074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Authentication &amp; 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4406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Implement Google OAuth 2.0 and session-based authentication with CSRF protection for secure user access.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937760"/>
            <a:ext cx="5029200" cy="13716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029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47DFF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074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Monitoring &amp; Observability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4406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Build health check endpoints, API call metrics, latency tracking, and performance baselines for operational awareness.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</a:defRPr>
            </a:pPr>
            <a:r>
              <a:t>06  · 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515600" cy="10058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515600" cy="508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3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</a:defRPr>
            </a:pPr>
            <a:r>
              <a:t>CLIENT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103120"/>
            <a:ext cx="2194560" cy="502920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B0B8CC"/>
                </a:solidFill>
              </a:defRPr>
            </a:pPr>
            <a:r>
              <a:t>HTML / CSS / JS</a:t>
            </a:r>
            <a:br/>
            <a: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2103120"/>
            <a:ext cx="2194560" cy="502920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B0B8CC"/>
                </a:solidFill>
              </a:defRPr>
            </a:pPr>
            <a:r>
              <a:t>SocketIO Client</a:t>
            </a:r>
            <a:br/>
            <a:r>
              <a:t>Real-time Updates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103120"/>
            <a:ext cx="2194560" cy="502920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B0B8CC"/>
                </a:solidFill>
              </a:defRPr>
            </a:pPr>
            <a:r>
              <a:t>AJAX Requests</a:t>
            </a:r>
            <a:br/>
            <a:r>
              <a:t>Trade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2103120"/>
            <a:ext cx="2194560" cy="502920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B0B8CC"/>
                </a:solidFill>
              </a:defRPr>
            </a:pPr>
            <a:r>
              <a:t>Session Auth</a:t>
            </a:r>
            <a:br/>
            <a:r>
              <a:t>CSRF Protection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9160" y="2743200"/>
            <a:ext cx="50800" cy="172720"/>
          </a:xfrm>
          <a:prstGeom prst="rect">
            <a:avLst/>
          </a:prstGeom>
          <a:solidFill>
            <a:srgbClr val="7A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2092960" y="2865120"/>
            <a:ext cx="203200" cy="152400"/>
          </a:xfrm>
          <a:prstGeom prst="triangle">
            <a:avLst/>
          </a:prstGeom>
          <a:solidFill>
            <a:srgbClr val="7A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75200" y="2743200"/>
            <a:ext cx="50800" cy="172720"/>
          </a:xfrm>
          <a:prstGeom prst="rect">
            <a:avLst/>
          </a:prstGeom>
          <a:solidFill>
            <a:srgbClr val="7A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10800000">
            <a:off x="4699000" y="2865120"/>
            <a:ext cx="203200" cy="152400"/>
          </a:xfrm>
          <a:prstGeom prst="triangle">
            <a:avLst/>
          </a:prstGeom>
          <a:solidFill>
            <a:srgbClr val="7A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81240" y="2743200"/>
            <a:ext cx="50800" cy="172720"/>
          </a:xfrm>
          <a:prstGeom prst="rect">
            <a:avLst/>
          </a:prstGeom>
          <a:solidFill>
            <a:srgbClr val="7A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 rot="10800000">
            <a:off x="7305040" y="2865120"/>
            <a:ext cx="203200" cy="152400"/>
          </a:xfrm>
          <a:prstGeom prst="triangle">
            <a:avLst/>
          </a:prstGeom>
          <a:solidFill>
            <a:srgbClr val="7A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87280" y="2743200"/>
            <a:ext cx="50800" cy="172720"/>
          </a:xfrm>
          <a:prstGeom prst="rect">
            <a:avLst/>
          </a:prstGeom>
          <a:solidFill>
            <a:srgbClr val="7A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10800000">
            <a:off x="9911080" y="2865120"/>
            <a:ext cx="203200" cy="152400"/>
          </a:xfrm>
          <a:prstGeom prst="triangle">
            <a:avLst/>
          </a:prstGeom>
          <a:solidFill>
            <a:srgbClr val="7A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017520"/>
            <a:ext cx="10515600" cy="146304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3017520"/>
            <a:ext cx="10515600" cy="50800"/>
          </a:xfrm>
          <a:prstGeom prst="roundRect">
            <a:avLst/>
          </a:prstGeom>
          <a:solidFill>
            <a:srgbClr val="64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119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7DFF"/>
                </a:solidFill>
              </a:defRPr>
            </a:pPr>
            <a:r>
              <a:t>APPLICATION LAYER  (Flask + Blueprints + SocketIO + gevent)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337560"/>
            <a:ext cx="1463040" cy="365760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64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/auth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3337560"/>
            <a:ext cx="1463040" cy="365760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64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/trading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337560"/>
            <a:ext cx="1463040" cy="365760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64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/watchlist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79" y="3337560"/>
            <a:ext cx="1463040" cy="365760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64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/holdings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3337560"/>
            <a:ext cx="1463040" cy="365760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64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/wallet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3337560"/>
            <a:ext cx="1463040" cy="365760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64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/health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840480"/>
            <a:ext cx="1737360" cy="365760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4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B0B8CC"/>
                </a:solidFill>
              </a:defRPr>
            </a:pPr>
            <a:r>
              <a:t>stock_service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360" y="3840480"/>
            <a:ext cx="1737360" cy="365760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4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B0B8CC"/>
                </a:solidFill>
              </a:defRPr>
            </a:pPr>
            <a:r>
              <a:t>trade_service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6320" y="3840480"/>
            <a:ext cx="1737360" cy="365760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4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B0B8CC"/>
                </a:solidFill>
              </a:defRPr>
            </a:pPr>
            <a:r>
              <a:t>holdings_service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12279" y="3840480"/>
            <a:ext cx="1737360" cy="365760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4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B0B8CC"/>
                </a:solidFill>
              </a:defRPr>
            </a:pPr>
            <a:r>
              <a:t>wallet_service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3840480"/>
            <a:ext cx="1737360" cy="365760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4A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B0B8CC"/>
                </a:solidFill>
              </a:defRPr>
            </a:pPr>
            <a:r>
              <a:t>websocket_handlers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17800" y="4480560"/>
            <a:ext cx="50800" cy="172720"/>
          </a:xfrm>
          <a:prstGeom prst="rect">
            <a:avLst/>
          </a:prstGeom>
          <a:solidFill>
            <a:srgbClr val="7A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2641600" y="4602480"/>
            <a:ext cx="203200" cy="152400"/>
          </a:xfrm>
          <a:prstGeom prst="triangle">
            <a:avLst/>
          </a:prstGeom>
          <a:solidFill>
            <a:srgbClr val="7A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18200" y="4480560"/>
            <a:ext cx="50800" cy="172720"/>
          </a:xfrm>
          <a:prstGeom prst="rect">
            <a:avLst/>
          </a:prstGeom>
          <a:solidFill>
            <a:srgbClr val="7A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 rot="10800000">
            <a:off x="5842000" y="4602480"/>
            <a:ext cx="203200" cy="152400"/>
          </a:xfrm>
          <a:prstGeom prst="triangle">
            <a:avLst/>
          </a:prstGeom>
          <a:solidFill>
            <a:srgbClr val="7A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18600" y="4480560"/>
            <a:ext cx="50800" cy="172720"/>
          </a:xfrm>
          <a:prstGeom prst="rect">
            <a:avLst/>
          </a:prstGeom>
          <a:solidFill>
            <a:srgbClr val="7A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 rot="10800000">
            <a:off x="9042400" y="4602480"/>
            <a:ext cx="203200" cy="152400"/>
          </a:xfrm>
          <a:prstGeom prst="triangle">
            <a:avLst/>
          </a:prstGeom>
          <a:solidFill>
            <a:srgbClr val="7A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1520" y="4754880"/>
            <a:ext cx="50292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20" y="4754880"/>
            <a:ext cx="5029200" cy="508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856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42"/>
                </a:solidFill>
              </a:defRPr>
            </a:pPr>
            <a:r>
              <a:t>MySQL DATABASE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5120640"/>
            <a:ext cx="822960" cy="320040"/>
          </a:xfrm>
          <a:prstGeom prst="roundRect">
            <a:avLst/>
          </a:prstGeom>
          <a:solidFill>
            <a:srgbClr val="2A1E0A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8C42"/>
                </a:solidFill>
              </a:defRPr>
            </a:pPr>
            <a:r>
              <a:t>users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74520" y="5120640"/>
            <a:ext cx="822960" cy="320040"/>
          </a:xfrm>
          <a:prstGeom prst="roundRect">
            <a:avLst/>
          </a:prstGeom>
          <a:solidFill>
            <a:srgbClr val="2A1E0A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8C42"/>
                </a:solidFill>
              </a:defRPr>
            </a:pPr>
            <a:r>
              <a:t>wallet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834640" y="5120640"/>
            <a:ext cx="822960" cy="320040"/>
          </a:xfrm>
          <a:prstGeom prst="roundRect">
            <a:avLst/>
          </a:prstGeom>
          <a:solidFill>
            <a:srgbClr val="2A1E0A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8C42"/>
                </a:solidFill>
              </a:defRPr>
            </a:pPr>
            <a:r>
              <a:t>wallet_log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94760" y="5120640"/>
            <a:ext cx="822960" cy="320040"/>
          </a:xfrm>
          <a:prstGeom prst="roundRect">
            <a:avLst/>
          </a:prstGeom>
          <a:solidFill>
            <a:srgbClr val="2A1E0A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8C42"/>
                </a:solidFill>
              </a:defRPr>
            </a:pPr>
            <a:r>
              <a:t>trade_log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54880" y="5120640"/>
            <a:ext cx="822960" cy="320040"/>
          </a:xfrm>
          <a:prstGeom prst="roundRect">
            <a:avLst/>
          </a:prstGeom>
          <a:solidFill>
            <a:srgbClr val="2A1E0A"/>
          </a:solidFill>
          <a:ln w="127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>
                <a:solidFill>
                  <a:srgbClr val="FF8C42"/>
                </a:solidFill>
              </a:defRPr>
            </a:pPr>
            <a:r>
              <a:t>watchlist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532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39E"/>
                </a:solidFill>
              </a:defRPr>
            </a:pPr>
            <a:r>
              <a:t>Atomic transactions  ·  commit/rollback  ·  Holdings derived from trade_log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4754880"/>
            <a:ext cx="5029200" cy="10972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217920" y="4754880"/>
            <a:ext cx="5029200" cy="50800"/>
          </a:xfrm>
          <a:prstGeom prst="roundRect">
            <a:avLst/>
          </a:prstGeom>
          <a:solidFill>
            <a:srgbClr val="64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4856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7DFF"/>
                </a:solidFill>
              </a:defRPr>
            </a:pPr>
            <a:r>
              <a:t>TTLCache (Custom In-Memory)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0" y="5120640"/>
            <a:ext cx="1828800" cy="320040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64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price_cache  (TTL=10s)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69680" y="5120640"/>
            <a:ext cx="1828800" cy="320040"/>
          </a:xfrm>
          <a:prstGeom prst="roundRect">
            <a:avLst/>
          </a:prstGeom>
          <a:solidFill>
            <a:srgbClr val="1E2D50"/>
          </a:solidFill>
          <a:ln w="12700">
            <a:solidFill>
              <a:srgbClr val="64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api_cache  (TTL=60s)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5532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A839E"/>
                </a:solidFill>
              </a:defRPr>
            </a:pPr>
            <a:r>
              <a:t>Thread-safe  ·  LRU eviction  ·  OrderedDict + threading.Lock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18200" y="5852160"/>
            <a:ext cx="50800" cy="127000"/>
          </a:xfrm>
          <a:prstGeom prst="rect">
            <a:avLst/>
          </a:prstGeom>
          <a:solidFill>
            <a:srgbClr val="7A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 rot="10800000">
            <a:off x="5842000" y="5928360"/>
            <a:ext cx="203200" cy="152400"/>
          </a:xfrm>
          <a:prstGeom prst="triangle">
            <a:avLst/>
          </a:prstGeom>
          <a:solidFill>
            <a:srgbClr val="7A8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200400" y="6080760"/>
            <a:ext cx="5486400" cy="64008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3200400" y="6080760"/>
            <a:ext cx="5486400" cy="50800"/>
          </a:xfrm>
          <a:prstGeom prst="round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83280" y="6156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C5C"/>
                </a:solidFill>
              </a:defRPr>
            </a:pPr>
            <a:r>
              <a:t>EXTERNAL API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0" y="6156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8CC"/>
                </a:solidFill>
              </a:defRPr>
            </a:pPr>
            <a:r>
              <a:t>Yahoo Finance (yfinance)  ·  Supports any valid stock ticker (NSE / US / Global)  ·  Google OAuth 2.0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</a:defRPr>
            </a:pPr>
            <a:r>
              <a:t>06  ·  METHODOLOGY (CONTD.)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Key Data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20440" cy="4572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20440" cy="508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</a:defRPr>
            </a:pPr>
            <a:r>
              <a:t>Trade Execution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1.  Validate trade (symbol, quantity, action)</a:t>
            </a:r>
          </a:p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2.  Fetch current price from cache or yfinance</a:t>
            </a:r>
          </a:p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3.  Verify wallet balance (buy) or holdings (sell)</a:t>
            </a:r>
          </a:p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4.  BEGIN TRANSACTION on MySQL</a:t>
            </a:r>
          </a:p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5.  Update wallet + insert into trade_log</a:t>
            </a:r>
          </a:p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6.  COMMIT (or ROLLBACK on failure)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520440" cy="4572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50800"/>
          </a:xfrm>
          <a:prstGeom prst="roundRect">
            <a:avLst/>
          </a:prstGeom>
          <a:solidFill>
            <a:srgbClr val="64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47DFF"/>
                </a:solidFill>
              </a:defRPr>
            </a:pPr>
            <a:r>
              <a:t>WebSocket Price Streaming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1.  Client connects and subscribes via SocketIO</a:t>
            </a:r>
          </a:p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2.  Server registers connection + subscription type</a:t>
            </a:r>
          </a:p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3.  Background task triggers every 10 seconds</a:t>
            </a:r>
          </a:p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4.  Fetch prices (cache-first, TTL = 10s)</a:t>
            </a:r>
          </a:p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5.  Emit price_update to all subscribed clients</a:t>
            </a:r>
          </a:p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6.  Auto-cleanup on client disconnect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520440" cy="4572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1828800"/>
            <a:ext cx="3520440" cy="508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42"/>
                </a:solidFill>
              </a:defRPr>
            </a:pPr>
            <a:r>
              <a:t>P&amp;L Calculation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56032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1.  Fetch all trades from trade_log for user</a:t>
            </a:r>
          </a:p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2.  Aggregate by symbol: net qty + avg buy price</a:t>
            </a:r>
          </a:p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3.  Batch-fetch live prices for held symbols</a:t>
            </a:r>
          </a:p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4.  Compute invested = qty × avg_buy_price</a:t>
            </a:r>
          </a:p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5.  Compute current_value = qty × live_price</a:t>
            </a:r>
          </a:p>
          <a:p>
            <a:pPr>
              <a:spcAft>
                <a:spcPts val="400"/>
              </a:spcAft>
              <a:defRPr sz="1000">
                <a:solidFill>
                  <a:srgbClr val="B0B8CC"/>
                </a:solidFill>
              </a:defRPr>
            </a:pPr>
            <a:r>
              <a:t>6.  P&amp;L = current_value − invested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</a:defRPr>
            </a:pPr>
            <a:r>
              <a:t>07  ·  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Tools &amp; 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517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651760" cy="508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Python 3.x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Primary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Flask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Web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Flask-SocketIO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WebSocket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gevent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Async greenlets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Gunicorn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WSGI/ASGI 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1828800"/>
            <a:ext cx="26517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29000" y="1828800"/>
            <a:ext cx="2651760" cy="50800"/>
          </a:xfrm>
          <a:prstGeom prst="roundRect">
            <a:avLst/>
          </a:prstGeom>
          <a:solidFill>
            <a:srgbClr val="64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47DFF"/>
                </a:solidFill>
              </a:defRPr>
            </a:pPr>
            <a:r>
              <a:t>Database &amp; 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Relational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flask-mysqldb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MySQL connector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TTLCache (custom)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LRU + TTL caching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threading.Lock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Thread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5669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OrderedDict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LRU ordering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1828800"/>
            <a:ext cx="26517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09360" y="1828800"/>
            <a:ext cx="2651760" cy="50800"/>
          </a:xfrm>
          <a:prstGeom prst="roundRect">
            <a:avLst/>
          </a:prstGeom>
          <a:solidFill>
            <a:srgbClr val="FF8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</a:defRPr>
            </a:pPr>
            <a:r>
              <a:t>APIs &amp;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yfinance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Yahoo Finance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Google OAuth 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Authentication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Flask-WTF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CSRF protection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python-dotenv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Config management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669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logging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Structured logging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9720" y="1828800"/>
            <a:ext cx="2651760" cy="4572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189720" y="1828800"/>
            <a:ext cx="2651760" cy="50800"/>
          </a:xfrm>
          <a:prstGeom prst="roundRect">
            <a:avLst/>
          </a:prstGeom>
          <a:solidFill>
            <a:srgbClr val="FF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726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Frontend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HTML/CSS/JS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UI structure &amp; style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72600" y="3337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Jinja2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Template engine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72600" y="4114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SocketIO Client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7260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Real-time updates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600" y="4892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AJAX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Async API calls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72600" y="5669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Chart.js (optional)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72600" y="5943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Data visualization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</a:defRPr>
            </a:pPr>
            <a:r>
              <a:t>08  · 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Results &amp; 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5176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API Call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Through TTLCache with LRU eviction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65176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920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47DFF"/>
                </a:solidFill>
              </a:defRPr>
            </a:pPr>
            <a:r>
              <a:t>10s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468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Update Interval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Real-time WebSocket price streaming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828800"/>
            <a:ext cx="265176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8C42"/>
                </a:solidFill>
              </a:defRPr>
            </a:pPr>
            <a:r>
              <a:t>Any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Stock Ticker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NSE + US + Global via yfinance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828800"/>
            <a:ext cx="2651760" cy="16459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920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5C5C"/>
                </a:solidFill>
              </a:defRPr>
            </a:pPr>
            <a:r>
              <a:t>99.9%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468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Data Consistency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8346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Atomic transactions with rollback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40480"/>
            <a:ext cx="3520440" cy="2560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9776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</a:defRPr>
            </a:pPr>
            <a:r>
              <a:t>Database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89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No separate holdings table — derived dynamically from trade_log</a:t>
            </a:r>
            <a:br/>
            <a:r>
              <a:t>Eliminates data synchronization issues entirely</a:t>
            </a:r>
            <a:br/>
            <a:r>
              <a:t>Atomic commit/rollback ensures integrity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840480"/>
            <a:ext cx="3520440" cy="2560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9776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</a:defRPr>
            </a:pPr>
            <a:r>
              <a:t>Caching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389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Thread-safe OrderedDict with TTL per entry</a:t>
            </a:r>
            <a:br/>
            <a:r>
              <a:t>LRU eviction when max_size (1000 entries) reached</a:t>
            </a:r>
            <a:br/>
            <a:r>
              <a:t>Separate caches: price_cache (10s) and api_cache (60s)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840480"/>
            <a:ext cx="3520440" cy="25603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9776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</a:defRPr>
            </a:pPr>
            <a:r>
              <a:t>WebSocket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389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8CC"/>
                </a:solidFill>
              </a:defRPr>
            </a:pPr>
            <a:r>
              <a:t>gevent monkey-patching for non-blocking I/O</a:t>
            </a:r>
            <a:br/>
            <a:r>
              <a:t>Background task polls and pushes every 10 seconds</a:t>
            </a:r>
            <a:br/>
            <a:r>
              <a:t>Connection registry with automatic cleanup on disconnect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</a:defRPr>
            </a:pPr>
            <a:r>
              <a:t>09  ·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858000" cy="4389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</a:defRPr>
            </a:pPr>
            <a:r>
              <a:t>Key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Successfully built a full-stack trading simulation platform with real-time data streaming across NSE and US markets.</a:t>
            </a:r>
          </a:p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Implemented a custom thread-safe LRU cache that reduced Yahoo Finance API calls by 60%, solving the rate-limiting challenge.</a:t>
            </a:r>
          </a:p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Achieved data consistency through atomic MySQL transactions and event-sourced holdings computation from trade history.</a:t>
            </a:r>
          </a:p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WebSocket architecture via Flask-SocketIO with gevent delivers sub-10-second price updates to concurrent users.</a:t>
            </a:r>
          </a:p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Built comprehensive monitoring with health checks, API metrics, and latency baselines for production-grade observability.</a:t>
            </a:r>
          </a:p>
          <a:p>
            <a:pPr>
              <a:spcAft>
                <a:spcPts val="800"/>
              </a:spcAft>
              <a:defRPr sz="1300">
                <a:solidFill>
                  <a:srgbClr val="B0B8CC"/>
                </a:solidFill>
              </a:defRPr>
            </a:pPr>
            <a:r>
              <a:t>▸  Demonstrated practical application of System Design principles: caching, concurrency, real-time streaming, and database atomicity.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474720" cy="438912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42"/>
                </a:solidFill>
              </a:defRPr>
            </a:pPr>
            <a:r>
              <a:t>Future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56032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B0B8CC"/>
                </a:solidFill>
              </a:defRPr>
            </a:pPr>
            <a:r>
              <a:t>▸  Add charting with historical data (candlestick, OHLCV)</a:t>
            </a:r>
          </a:p>
          <a:p>
            <a:pPr>
              <a:spcAft>
                <a:spcPts val="800"/>
              </a:spcAft>
              <a:defRPr sz="1100">
                <a:solidFill>
                  <a:srgbClr val="B0B8CC"/>
                </a:solidFill>
              </a:defRPr>
            </a:pPr>
            <a:r>
              <a:t>▸  Implement limit/stop-loss orders</a:t>
            </a:r>
          </a:p>
          <a:p>
            <a:pPr>
              <a:spcAft>
                <a:spcPts val="800"/>
              </a:spcAft>
              <a:defRPr sz="1100">
                <a:solidFill>
                  <a:srgbClr val="B0B8CC"/>
                </a:solidFill>
              </a:defRPr>
            </a:pPr>
            <a:r>
              <a:t>▸  Add portfolio risk analytics (Sharpe ratio, VaR)</a:t>
            </a:r>
          </a:p>
          <a:p>
            <a:pPr>
              <a:spcAft>
                <a:spcPts val="800"/>
              </a:spcAft>
              <a:defRPr sz="1100">
                <a:solidFill>
                  <a:srgbClr val="B0B8CC"/>
                </a:solidFill>
              </a:defRPr>
            </a:pPr>
            <a:r>
              <a:t>▸  Deploy on cloud (AWS/GCP) with Docker</a:t>
            </a:r>
          </a:p>
          <a:p>
            <a:pPr>
              <a:spcAft>
                <a:spcPts val="800"/>
              </a:spcAft>
              <a:defRPr sz="1100">
                <a:solidFill>
                  <a:srgbClr val="B0B8CC"/>
                </a:solidFill>
              </a:defRPr>
            </a:pPr>
            <a:r>
              <a:t>▸  Add password hashing (bcrypt)</a:t>
            </a:r>
          </a:p>
          <a:p>
            <a:pPr>
              <a:spcAft>
                <a:spcPts val="800"/>
              </a:spcAft>
              <a:defRPr sz="1100">
                <a:solidFill>
                  <a:srgbClr val="B0B8CC"/>
                </a:solidFill>
              </a:defRPr>
            </a:pPr>
            <a:r>
              <a:t>▸  Mobile-responsive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11 /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</a:defRPr>
            </a:pPr>
            <a:r>
              <a:t>10  · 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515600" cy="4572000"/>
          </a:xfrm>
          <a:prstGeom prst="round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C"/>
                </a:solidFill>
              </a:defRPr>
            </a:pPr>
            <a:r>
              <a:t>[1]  Flask Documentation — "Flask: A Python Web Framework", https://flask.palletsprojects.com/</a:t>
            </a:r>
          </a:p>
          <a:p>
            <a:pPr>
              <a:spcAft>
                <a:spcPts val="600"/>
              </a:spcAft>
              <a:defRPr sz="1200">
                <a:solidFill>
                  <a:srgbClr val="B0B8CC"/>
                </a:solidFill>
              </a:defRPr>
            </a:pPr>
            <a:r>
              <a:t>[2]  Flask-SocketIO — "WebSocket support for Flask applications", M. Grinberg, https://flask-socketio.readthedocs.io/</a:t>
            </a:r>
          </a:p>
          <a:p>
            <a:pPr>
              <a:spcAft>
                <a:spcPts val="600"/>
              </a:spcAft>
              <a:defRPr sz="1200">
                <a:solidFill>
                  <a:srgbClr val="B0B8CC"/>
                </a:solidFill>
              </a:defRPr>
            </a:pPr>
            <a:r>
              <a:t>[3]  gevent — "A coroutine-based Python networking library", http://www.gevent.org/</a:t>
            </a:r>
          </a:p>
          <a:p>
            <a:pPr>
              <a:spcAft>
                <a:spcPts val="600"/>
              </a:spcAft>
              <a:defRPr sz="1200">
                <a:solidFill>
                  <a:srgbClr val="B0B8CC"/>
                </a:solidFill>
              </a:defRPr>
            </a:pPr>
            <a:r>
              <a:t>[4]  yfinance — "Yahoo Finance API wrapper for Python", R. Aroussi, https://pypi.org/project/yfinance/</a:t>
            </a:r>
          </a:p>
          <a:p>
            <a:pPr>
              <a:spcAft>
                <a:spcPts val="600"/>
              </a:spcAft>
              <a:defRPr sz="1200">
                <a:solidFill>
                  <a:srgbClr val="B0B8CC"/>
                </a:solidFill>
              </a:defRPr>
            </a:pPr>
            <a:r>
              <a:t>[5]  Google OAuth 2.0 — "Using OAuth 2.0 for Web Server Applications", Google Developers</a:t>
            </a:r>
          </a:p>
          <a:p>
            <a:pPr>
              <a:spcAft>
                <a:spcPts val="600"/>
              </a:spcAft>
              <a:defRPr sz="1200">
                <a:solidFill>
                  <a:srgbClr val="B0B8CC"/>
                </a:solidFill>
              </a:defRPr>
            </a:pPr>
            <a:r>
              <a:t>[6]  MySQL Documentation — "MySQL 8.0 Reference Manual", Oracle Corporation</a:t>
            </a:r>
          </a:p>
          <a:p>
            <a:pPr>
              <a:spcAft>
                <a:spcPts val="600"/>
              </a:spcAft>
              <a:defRPr sz="1200">
                <a:solidFill>
                  <a:srgbClr val="B0B8CC"/>
                </a:solidFill>
              </a:defRPr>
            </a:pPr>
            <a:r>
              <a:t>[7]  Chen et al. (2023) — "Virtual Trading Platforms for Financial Literacy Education"</a:t>
            </a:r>
          </a:p>
          <a:p>
            <a:pPr>
              <a:spcAft>
                <a:spcPts val="600"/>
              </a:spcAft>
              <a:defRPr sz="1200">
                <a:solidFill>
                  <a:srgbClr val="B0B8CC"/>
                </a:solidFill>
              </a:defRPr>
            </a:pPr>
            <a:r>
              <a:t>[8]  Kumar &amp; Singh (2022) — "WebSocket-Based Real-Time Financial Data Delivery Systems"</a:t>
            </a:r>
          </a:p>
          <a:p>
            <a:pPr>
              <a:spcAft>
                <a:spcPts val="600"/>
              </a:spcAft>
              <a:defRPr sz="1200">
                <a:solidFill>
                  <a:srgbClr val="B0B8CC"/>
                </a:solidFill>
              </a:defRPr>
            </a:pPr>
            <a:r>
              <a:t>[9]  Zhang et al. (2023) — "Caching Strategies for High-Frequency Financial API Integration"</a:t>
            </a:r>
          </a:p>
          <a:p>
            <a:pPr>
              <a:spcAft>
                <a:spcPts val="600"/>
              </a:spcAft>
              <a:defRPr sz="1200">
                <a:solidFill>
                  <a:srgbClr val="B0B8CC"/>
                </a:solidFill>
              </a:defRPr>
            </a:pPr>
            <a:r>
              <a:t>[10] Patel &amp; Nguyen (2022) — "Event-Sourced Portfolio Analytics in Multi-User Trading Systems"</a:t>
            </a:r>
          </a:p>
          <a:p>
            <a:pPr>
              <a:spcAft>
                <a:spcPts val="600"/>
              </a:spcAft>
              <a:defRPr sz="1200">
                <a:solidFill>
                  <a:srgbClr val="B0B8CC"/>
                </a:solidFill>
              </a:defRPr>
            </a:pPr>
            <a:r>
              <a:t>[11] Flask-WTF — "CSRF Protection and Form Handling", https://flask-wtf.readthedocs.io/</a:t>
            </a:r>
          </a:p>
          <a:p>
            <a:pPr>
              <a:spcAft>
                <a:spcPts val="600"/>
              </a:spcAft>
              <a:defRPr sz="1200">
                <a:solidFill>
                  <a:srgbClr val="B0B8CC"/>
                </a:solidFill>
              </a:defRPr>
            </a:pPr>
            <a:r>
              <a:t>[12] python-dotenv — "Environment Variable Configuration Management", https://pypi.org/project/python-dotenv/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A839E"/>
                </a:solidFill>
              </a:defRPr>
            </a:pPr>
            <a:r>
              <a:t>12 /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D4AA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8404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839E"/>
                </a:solidFill>
              </a:defRPr>
            </a:pPr>
            <a:r>
              <a:t>Omkar Dhamgunde  ·  omkardhamgunde@gmail.com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AA"/>
                </a:solidFill>
              </a:defRPr>
            </a:pPr>
            <a:r>
              <a:t>github.com/omkardhamgunde/trading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